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424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0F1424"/>
                </a:solidFill>
                <a:latin typeface="Cambria"/>
              </a:rPr>
              <a:t>Largest detected networks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Linked FIRs</c:v>
                </c:pt>
              </c:strCache>
            </c:strRef>
          </c:tx>
          <c:spPr>
            <a:solidFill>
              <a:srgbClr val="1626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88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Bablu Chain Snatching</c:v>
                </c:pt>
                <c:pt idx="1">
                  <c:v>Jamtara Cyber Fraud</c:v>
                </c:pt>
                <c:pt idx="2">
                  <c:v>Kanpur Burglary Ring</c:v>
                </c:pt>
                <c:pt idx="3">
                  <c:v>Ghaziabad Auto Theft</c:v>
                </c:pt>
                <c:pt idx="4">
                  <c:v>Munna Bhai Extortion</c:v>
                </c:pt>
                <c:pt idx="5">
                  <c:v>Chhote Lal Dacoity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93-48A2-ABE9-8D117EA698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4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88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51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is a working system, not a mock-up — everything in this deck comes from a live run over a 100-FIR corpus. The core claim: CCTNS already holds the data that would connect cases across districts; nothing reads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precisely: it is not a data-collection problem, it is a reading problem. UP Police already hold the records. The Jamtara example is the one the judges will recognise.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and 2 are standard NLP. Steps 3 and 4 are where the real engineering is, and where a naive implementation quietly produces nonsense — that is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to land: dependencies are optional, not assumed. The service starts and does useful work with no database, no API key and no internet — which matters for a police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top row left to right, then explain that each decision below has a defined fallback. Nothing in the pipeline has a single point of failure that stops the officer getting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The 86-of-100 number is a real measurement from our own first implementation — we caught it, diagnosed it as alias chaining, and rebuilt the resolver. Judges respond to a team that found its own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last line: the detector is structural. The gang names are recovered because the FIR text contains them, not because we shipped a lookup table of known gangs.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"how do you stop it hallucinating" — this slide is the answer. The model never sees the raw corpus and is never asked to find anything; it is given findings and asked to write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that matters: an analyst can study crime patterns without being handed every accused person's name and address. That is a policy decision enforced in code, not a UI toggle.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measurement, not ambition. State the limits before a judge asks — naming the name-collision limit yourself is far stronger than being caught by it. Then offer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554480"/>
            <a:ext cx="5669280" cy="5669280"/>
          </a:xfrm>
          <a:prstGeom prst="ellipse">
            <a:avLst/>
          </a:prstGeom>
          <a:solidFill>
            <a:srgbClr val="24396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E8A33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170432"/>
            <a:ext cx="868680" cy="868680"/>
          </a:xfrm>
          <a:prstGeom prst="roundRect">
            <a:avLst>
              <a:gd name="adj" fmla="val 21053"/>
            </a:avLst>
          </a:prstGeom>
          <a:solidFill>
            <a:srgbClr val="2439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4942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 Intelligence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9067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CFE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Crime Pattern Detector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9867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 crore unread FIRs into cross-district intelligence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7B8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Hackathon · NFSU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5047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7B8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AI &amp; Predictive Analytics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5047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7B8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10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33688" y="5047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7B8E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933688" y="5266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Arjya Ghosh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crore FIRs. No layer that reads them.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564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3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crore+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Digitised FIRs in CCTNS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572768"/>
            <a:ext cx="34564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35424" y="1719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3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NLP layer over them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91856" y="1572768"/>
            <a:ext cx="34564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7888" y="17190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pattern analysis is done today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6858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7824" y="341985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costs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77824" y="3822192"/>
            <a:ext cx="365760" cy="3657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38039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FIR is a police record, not a searchable one.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40599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free-text prose. Nothing extracts who, where or how.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" y="4507992"/>
            <a:ext cx="365760" cy="3657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7824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08176" y="44897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station investigates alone.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7457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offender under two spellings in two districts is two strangers.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7824" y="5193792"/>
            <a:ext cx="365760" cy="3657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51755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offenders are found late, or by accident.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408176" y="54315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Jamtara cyber-fraud network ran for years across state lines.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0" y="3218688"/>
            <a:ext cx="3822192" cy="2743200"/>
          </a:xfrm>
          <a:prstGeom prst="roundRect">
            <a:avLst>
              <a:gd name="adj" fmla="val 2667"/>
            </a:avLst>
          </a:prstGeom>
          <a:solidFill>
            <a:srgbClr val="16264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065008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one line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065008" y="3822192"/>
            <a:ext cx="3255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connection between two cases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exists in the text.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 reads the text.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5321808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that reader.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it does to every FIR it receives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5643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420624" cy="420624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47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957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each FIR into one of 15 offence types — LLM first, keyword classifier as a guaranteed floor.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572768"/>
            <a:ext cx="345643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828800"/>
            <a:ext cx="420624" cy="420624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1847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3957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accused, victims, ages, parentage, addresses, IPC sections, weapons and modus operandi out of the prose.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1856" y="1572768"/>
            <a:ext cx="345643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82880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1847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identity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3957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"Bablu" in one district and "Bhura" in another are the same person — and when they are not.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85616"/>
            <a:ext cx="345643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04164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0599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networks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60857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 weighted co-offending graph into organised groups instead of loose name chains.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3785616"/>
            <a:ext cx="345643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041648"/>
            <a:ext cx="420624" cy="420624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084064" y="40599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460857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live intelligence report for the question the officer actually asked, grounded in the analysis.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91856" y="3785616"/>
            <a:ext cx="345643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4041648"/>
            <a:ext cx="420624" cy="420624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66176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40599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access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460857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eight permissions, and identities redacted server-side for the roles that should not see them.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direction of trust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27664" cy="964692"/>
          </a:xfrm>
          <a:prstGeom prst="roundRect">
            <a:avLst>
              <a:gd name="adj" fmla="val 5687"/>
            </a:avLst>
          </a:prstGeom>
          <a:solidFill>
            <a:srgbClr val="2439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6642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30168" y="1645920"/>
            <a:ext cx="7644384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Zero-build React dashboard (static/) — vendored, works offline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AI assistant · role-filtered navigation · login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IBM Bob CLI calls the same 8 tools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601468"/>
            <a:ext cx="11027664" cy="964692"/>
          </a:xfrm>
          <a:prstGeom prst="roundRect">
            <a:avLst>
              <a:gd name="adj" fmla="val 5687"/>
            </a:avLst>
          </a:prstGeom>
          <a:solidFill>
            <a:srgbClr val="1D2F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7477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access control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729484"/>
            <a:ext cx="7644384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26 endpoints · SSE streaming for chat and reports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 — 5 roles, 8 permissions, PBKDF2, HMAC session cookies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PII redaction before the response is built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685032"/>
            <a:ext cx="11027664" cy="1170432"/>
          </a:xfrm>
          <a:prstGeom prst="roundRect">
            <a:avLst>
              <a:gd name="adj" fmla="val 4688"/>
            </a:avLst>
          </a:prstGeom>
          <a:solidFill>
            <a:srgbClr val="223A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831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engine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813048"/>
            <a:ext cx="76443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nlp_engine — orchestrates the pipeline with bounded concurrency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entity_extractor — regex NER tuned to Indian FIR conventions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pattern_detector — union-find identity, capped graph clustering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intel_qa — deterministic answers and report construction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11027664" cy="964692"/>
          </a:xfrm>
          <a:prstGeom prst="roundRect">
            <a:avLst>
              <a:gd name="adj" fmla="val 5687"/>
            </a:avLst>
          </a:prstGeom>
          <a:solidFill>
            <a:srgbClr val="2A458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5120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storage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5102352"/>
            <a:ext cx="7644384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llm_client — Z.ai GLM (OpenAI-compatible) · watsonx.ai secondary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— MongoDB when reachable, in-memory fallback otherwise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ncrb_seed — NCRB-distribution corpus generator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0533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degrades instead of failing: no MongoDB → in-memory · no LLM key → computed answers · no CDN → vendored assets.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FIR text to an actionable briefing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700784" cy="181051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1626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6916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084832"/>
            <a:ext cx="1481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corpus or</a:t>
            </a:r>
            <a:endParaRPr lang="en-US" sz="105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JSON batch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49424" y="22677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664208"/>
            <a:ext cx="1700784" cy="181051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664208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1626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68880" y="16916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2084832"/>
            <a:ext cx="1481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type</a:t>
            </a:r>
            <a:endParaRPr lang="en-US" sz="105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→ keyword floor)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51376" y="22677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1664208"/>
            <a:ext cx="1700784" cy="181051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1664208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2439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70832" y="16916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084832"/>
            <a:ext cx="1481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Accused, victims, IPC,</a:t>
            </a:r>
            <a:endParaRPr lang="en-US" sz="105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weapons, MO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22677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2784" y="1664208"/>
            <a:ext cx="1700784" cy="181051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1664208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72784" y="16916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2084832"/>
            <a:ext cx="1481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identity</a:t>
            </a:r>
            <a:endParaRPr lang="en-US" sz="105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FIRs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2677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4736" y="1664208"/>
            <a:ext cx="1700784" cy="181051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74736" y="1664208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74736" y="16916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2084832"/>
            <a:ext cx="1481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co-offending</a:t>
            </a:r>
            <a:endParaRPr lang="en-US" sz="105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networks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26771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76688" y="1664208"/>
            <a:ext cx="1700784" cy="1810512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76688" y="1664208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2E9E8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76688" y="16916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86416" y="2084832"/>
            <a:ext cx="1481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assistant ·</a:t>
            </a:r>
            <a:endParaRPr lang="en-US" sz="1050" dirty="0"/>
          </a:p>
          <a:p>
            <a:pPr marL="0" indent="0" algn="ctr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intel report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3547872"/>
            <a:ext cx="345643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6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TYPE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39867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configured?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40740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model classifies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495604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14-rule keyword classifier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79392" y="3547872"/>
            <a:ext cx="345643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535424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MATCH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35424" y="39867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full name?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535424" y="440740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merge identity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35424" y="495604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≥ 82% → merge only if corroborated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991856" y="3547872"/>
            <a:ext cx="345643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247888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247888" y="39867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reachable?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247888" y="440740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grounded, streamed prose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247888" y="495604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computed answer, labelled as such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are two names the same person?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2157984"/>
          </a:xfrm>
          <a:prstGeom prst="roundRect">
            <a:avLst>
              <a:gd name="adj" fmla="val 3390"/>
            </a:avLst>
          </a:prstGeom>
          <a:solidFill>
            <a:srgbClr val="16264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FF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approach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29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names and aliases, merge anything similar.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9572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43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340864" y="2432304"/>
            <a:ext cx="3474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F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100 FIRs collapsed into ONE fictitious offender.</a:t>
            </a:r>
            <a:endParaRPr lang="en-US" sz="11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F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Nicknames like "Chhotu" are shared by thousands of unrelated people.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7648" y="1554480"/>
            <a:ext cx="526694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01968" y="1737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0299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over mentions, not over names.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395728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alias can corroborate a match — never create 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full name merges; a bare first name does not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≥ 82% needs a shared father, station or district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are transitive: A–B and B–C puts A, B and C together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858768"/>
            <a:ext cx="11027664" cy="1481328"/>
          </a:xfrm>
          <a:prstGeom prst="roundRect">
            <a:avLst>
              <a:gd name="adj" fmla="val 4938"/>
            </a:avLst>
          </a:prstGeom>
          <a:solidFill>
            <a:srgbClr val="E8EEF9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9536" y="40233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strict rule, and not the generous one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352544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policing, a false link is worse than a missed one. A wrongly merged identity puts an innocent person on an intelligence brief as a serial offender. So an approximate name match is only ever a candidate — it needs independent evidence before two records become one person.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4864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938528" y="5541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938528" y="5779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credible, not chained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279392" y="54864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5650992" y="5541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cross-district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50992" y="5779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to spot manually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991856" y="54864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5541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threshold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363456" y="5779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corroboration required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Clusters, not chains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offender links two FIRs. Following those links blindly linked 96 of 100 records into a single "network" that meant nothing. Networks are now grown from the strongest edges first and capped, so a common offence pattern cannot absorb unrelated cases.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7004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962656"/>
            <a:ext cx="5669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999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offender identity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38928" y="29992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364992"/>
            <a:ext cx="5669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3401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modus operandi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340156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67328"/>
            <a:ext cx="5669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3803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district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380390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169664"/>
            <a:ext cx="5669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206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offence type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38928" y="420624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572000"/>
            <a:ext cx="5669280" cy="329184"/>
          </a:xfrm>
          <a:prstGeom prst="roundRect">
            <a:avLst>
              <a:gd name="adj" fmla="val 13889"/>
            </a:avLst>
          </a:prstGeom>
          <a:solidFill>
            <a:srgbClr val="1626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" y="46085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accepted at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460857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492240" y="1572768"/>
          <a:ext cx="5120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581558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gangs seeded into the corpus are recovered by name, from the text alone — no gang list is hard-coded into the detector.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streamed, and honest when it fails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456432" cy="1316736"/>
          </a:xfrm>
          <a:prstGeom prst="roundRect">
            <a:avLst>
              <a:gd name="adj" fmla="val 5556"/>
            </a:avLst>
          </a:prstGeom>
          <a:solidFill>
            <a:srgbClr val="17284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737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Z.ai GLM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Primary. OpenAI-compatible endpoint, streamed token by token.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0482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536192"/>
            <a:ext cx="3456432" cy="1316736"/>
          </a:xfrm>
          <a:prstGeom prst="roundRect">
            <a:avLst>
              <a:gd name="adj" fmla="val 5556"/>
            </a:avLst>
          </a:prstGeom>
          <a:solidFill>
            <a:srgbClr val="17284F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719072"/>
            <a:ext cx="384048" cy="384048"/>
          </a:xfrm>
          <a:prstGeom prst="ellipse">
            <a:avLst/>
          </a:prstGeom>
          <a:solidFill>
            <a:srgbClr val="2439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3542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737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watsonx.ai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21284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Secondary, and the crime classifier when configured.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35824" y="20482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1856" y="1536192"/>
            <a:ext cx="3456432" cy="1316736"/>
          </a:xfrm>
          <a:prstGeom prst="roundRect">
            <a:avLst>
              <a:gd name="adj" fmla="val 5556"/>
            </a:avLst>
          </a:prstGeom>
          <a:solidFill>
            <a:srgbClr val="17284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47888" y="1719072"/>
            <a:ext cx="384048" cy="384048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4788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41664" y="1737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 analysis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221284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available. Derived from the corpus, never invented.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054096"/>
            <a:ext cx="6858000" cy="2651760"/>
          </a:xfrm>
          <a:prstGeom prst="roundRect">
            <a:avLst>
              <a:gd name="adj" fmla="val 2759"/>
            </a:avLst>
          </a:prstGeom>
          <a:solidFill>
            <a:srgbClr val="1728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" y="325526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is answered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9536" y="3675888"/>
            <a:ext cx="310896" cy="310896"/>
          </a:xfrm>
          <a:prstGeom prst="ellipse">
            <a:avLst/>
          </a:prstGeom>
          <a:solidFill>
            <a:srgbClr val="24396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9536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16736" y="36576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pipeline computes the answer first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16736" y="388620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analysed corpus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9536" y="4178808"/>
            <a:ext cx="310896" cy="310896"/>
          </a:xfrm>
          <a:prstGeom prst="ellipse">
            <a:avLst/>
          </a:prstGeom>
          <a:solidFill>
            <a:srgbClr val="24396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9536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16736" y="4160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answer is handed to the model as authoritative context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16736" y="4389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a corpus digest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9536" y="4681728"/>
            <a:ext cx="310896" cy="310896"/>
          </a:xfrm>
          <a:prstGeom prst="ellipse">
            <a:avLst/>
          </a:prstGeom>
          <a:solidFill>
            <a:srgbClr val="24396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9536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316736" y="46634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forbids inventing any FIR number, name or figure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316736" y="489204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prose, not findings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9536" y="5184648"/>
            <a:ext cx="310896" cy="310896"/>
          </a:xfrm>
          <a:prstGeom prst="ellipse">
            <a:avLst/>
          </a:prstGeom>
          <a:solidFill>
            <a:srgbClr val="24396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9536" y="5184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316736" y="51663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 unreachable, the computed answer is returned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316736" y="53949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labelled, so a fallback is never passed off as AI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72400" y="3054096"/>
            <a:ext cx="3822192" cy="2651760"/>
          </a:xfrm>
          <a:prstGeom prst="roundRect">
            <a:avLst>
              <a:gd name="adj" fmla="val 2759"/>
            </a:avLst>
          </a:prstGeom>
          <a:solidFill>
            <a:srgbClr val="E8A33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65008" y="32918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3A26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grounding, not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3A26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generation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8065008" y="4059936"/>
            <a:ext cx="3291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4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hallucinated offender in a police briefing is worse than no briefing at all.</a:t>
            </a: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endParaRPr lang="en-US" sz="12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4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labelled as an automated correlation requiring verification by the investigating officer.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roles, eight permissions, real redaction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401568" y="15179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187952" y="15179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974336" y="15179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179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47104" y="15179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67665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" y="18745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analytics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8653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18653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74336" y="18653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8653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47104" y="186537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212848"/>
            <a:ext cx="6766560" cy="329184"/>
          </a:xfrm>
          <a:prstGeom prst="roundRect">
            <a:avLst>
              <a:gd name="adj" fmla="val 11111"/>
            </a:avLst>
          </a:prstGeom>
          <a:solidFill>
            <a:srgbClr val="E8EE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2258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records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224942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87952" y="224942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74336" y="224942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24942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47104" y="224942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2596896"/>
            <a:ext cx="67665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" y="26426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 profiles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401568" y="263347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87952" y="263347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74336" y="263347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263347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47104" y="263347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2980944"/>
            <a:ext cx="6766560" cy="329184"/>
          </a:xfrm>
          <a:prstGeom prst="roundRect">
            <a:avLst>
              <a:gd name="adj" fmla="val 11111"/>
            </a:avLst>
          </a:prstGeom>
          <a:solidFill>
            <a:srgbClr val="E8EEF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8096" y="3026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&amp; reports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401568" y="3017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3017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974336" y="3017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760720" y="3017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47104" y="3017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6928" y="3364992"/>
            <a:ext cx="67665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8096" y="34107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&amp; narratives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401568" y="340156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187952" y="340156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974336" y="340156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760720" y="340156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47104" y="340156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66928" y="3749040"/>
            <a:ext cx="6766560" cy="329184"/>
          </a:xfrm>
          <a:prstGeom prst="roundRect">
            <a:avLst>
              <a:gd name="adj" fmla="val 11111"/>
            </a:avLst>
          </a:prstGeom>
          <a:solidFill>
            <a:srgbClr val="E8EEF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68096" y="3794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FIR batches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3401568" y="37856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187952" y="37856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974336" y="37856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760720" y="37856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47104" y="378561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66928" y="4133088"/>
            <a:ext cx="67665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68096" y="41788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accounts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3401568" y="41696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187952" y="41696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974336" y="41696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760720" y="41696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47104" y="41696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571232" y="1517904"/>
            <a:ext cx="4023360" cy="2999232"/>
          </a:xfrm>
          <a:prstGeom prst="roundRect">
            <a:avLst>
              <a:gd name="adj" fmla="val 2439"/>
            </a:avLst>
          </a:prstGeom>
          <a:solidFill>
            <a:srgbClr val="16264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7845552" y="1737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Redaction is server-side</a:t>
            </a:r>
            <a:endParaRPr lang="en-US" sz="1700" dirty="0"/>
          </a:p>
        </p:txBody>
      </p:sp>
      <p:sp>
        <p:nvSpPr>
          <p:cNvPr id="60" name="Text 58"/>
          <p:cNvSpPr txBox="1"/>
          <p:nvPr/>
        </p:nvSpPr>
        <p:spPr>
          <a:xfrm>
            <a:off x="7845552" y="2103120"/>
            <a:ext cx="3493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fir:read_pii the API strips names, addresses, parentage and the FIR narrative before the response is built.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7845552" y="2926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C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sees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7845552" y="314553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Bablu alias Bhura · Husainabad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845552" y="3493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C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sees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7845552" y="37124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Accused #1 · address withheld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7845552" y="4059936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asserts the real name leaks through no field at all.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66928" y="4718304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768096" y="4882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PBKDF2-HMAC-SHA256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768096" y="5157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salt, 240k rounds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419856" y="4718304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3621024" y="4882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session cookies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3621024" y="5157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HMAC-signed, SameSite=Lax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272784" y="4718304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6473952" y="4882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shipped signing secret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6473952" y="5157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per process if unset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125712" y="4718304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B1533">
                <a:alpha val="14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9326880" y="4882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+ constant time</a:t>
            </a:r>
            <a:endParaRPr lang="en-US" sz="1150" dirty="0"/>
          </a:p>
        </p:txBody>
      </p:sp>
      <p:sp>
        <p:nvSpPr>
          <p:cNvPr id="77" name="Text 75"/>
          <p:cNvSpPr txBox="1"/>
          <p:nvPr/>
        </p:nvSpPr>
        <p:spPr>
          <a:xfrm>
            <a:off x="9326880" y="5157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attempts; no user enumeration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system, measured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596896" cy="1060704"/>
          </a:xfrm>
          <a:prstGeom prst="roundRect">
            <a:avLst>
              <a:gd name="adj" fmla="val 6897"/>
            </a:avLst>
          </a:prstGeom>
          <a:solidFill>
            <a:srgbClr val="1728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6093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 analysed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517904"/>
            <a:ext cx="2596896" cy="1060704"/>
          </a:xfrm>
          <a:prstGeom prst="roundRect">
            <a:avLst>
              <a:gd name="adj" fmla="val 6897"/>
            </a:avLst>
          </a:prstGeom>
          <a:solidFill>
            <a:srgbClr val="1728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84448" y="16093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517904"/>
            <a:ext cx="2596896" cy="1060704"/>
          </a:xfrm>
          <a:prstGeom prst="roundRect">
            <a:avLst>
              <a:gd name="adj" fmla="val 6897"/>
            </a:avLst>
          </a:prstGeom>
          <a:solidFill>
            <a:srgbClr val="1728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16093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517904"/>
            <a:ext cx="2596896" cy="1060704"/>
          </a:xfrm>
          <a:prstGeom prst="roundRect">
            <a:avLst>
              <a:gd name="adj" fmla="val 6897"/>
            </a:avLst>
          </a:prstGeom>
          <a:solidFill>
            <a:srgbClr val="1728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0576" y="16093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50" dirty="0"/>
          </a:p>
        </p:txBody>
      </p:sp>
      <p:pic>
        <p:nvPicPr>
          <p:cNvPr id="16" name="Image 0" descr="/tmp/claude-0/-home-user-FIR-Intelligence/83cfa2fa-608c-5a49-9f10-0043a0d33ea4/scratchpad/deck-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2724912"/>
            <a:ext cx="5394960" cy="316382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272784" y="2743200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end to end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72784" y="3145536"/>
            <a:ext cx="5321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districts · 57 stations · 205 accused · 146 victims extracted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API endpoints, every one covered including its error paths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role-permission matrix and PII redaction under test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dashboard views driven in a real browser, zero console errors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459028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72784" y="4846320"/>
            <a:ext cx="5321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name-based — two people with the same recorded full name will merge. Batch analysis, not live CCTNS streaming. The corpus is generated to NCRB distributions, not real FIR data.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272784" y="5797296"/>
            <a:ext cx="5321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CCTNS ingestion · geospatial hotspot mapping · Aadhaar-free biometric linkage · officer feedback loop on every link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Intelligence &amp; Crime Pattern Detector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045952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</Words>
  <Application>Microsoft Office PowerPoint</Application>
  <PresentationFormat>Widescreen</PresentationFormat>
  <Paragraphs>304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 Intelligence &amp; Crime Pattern Detector</dc:title>
  <dc:subject>PptxGenJS Presentation</dc:subject>
  <dc:creator>Arjya Ghosh</dc:creator>
  <cp:lastModifiedBy>Arjya Ghosh</cp:lastModifiedBy>
  <cp:revision>2</cp:revision>
  <dcterms:created xsi:type="dcterms:W3CDTF">2026-09-28T08:56:53Z</dcterms:created>
  <dcterms:modified xsi:type="dcterms:W3CDTF">2026-09-28T09:00:23Z</dcterms:modified>
</cp:coreProperties>
</file>